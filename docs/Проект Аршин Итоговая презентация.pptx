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lens.ru/kshfsx12q6wo4-arshin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80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49808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рынка счётчиков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4572000"/>
            <a:ext cx="4572000" cy="0"/>
          </a:xfrm>
          <a:prstGeom prst="line">
            <a:avLst/>
          </a:prstGeom>
          <a:noFill/>
          <a:ln w="12700">
            <a:solidFill>
              <a:srgbClr val="2A355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49808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Автоматизированный сбор данных из ФГИС Аршин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5029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Бренды · Производители · Модели · Объёмы поверок по месяцам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0" y="914400"/>
            <a:ext cx="128016" cy="128016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9966960" y="914400"/>
            <a:ext cx="128016" cy="128016"/>
          </a:xfrm>
          <a:prstGeom prst="ellipse">
            <a:avLst/>
          </a:prstGeom>
          <a:solidFill>
            <a:srgbClr val="4669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0332720" y="914400"/>
            <a:ext cx="128016" cy="128016"/>
          </a:xfrm>
          <a:prstGeom prst="ellipse">
            <a:avLst/>
          </a:prstGeom>
          <a:solidFill>
            <a:srgbClr val="2A355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0698480" y="914400"/>
            <a:ext cx="128016" cy="128016"/>
          </a:xfrm>
          <a:prstGeom prst="ellipse">
            <a:avLst/>
          </a:prstGeom>
          <a:solidFill>
            <a:srgbClr val="2A355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9601200" y="1280160"/>
            <a:ext cx="128016" cy="128016"/>
          </a:xfrm>
          <a:prstGeom prst="ellipse">
            <a:avLst/>
          </a:prstGeom>
          <a:solidFill>
            <a:srgbClr val="4669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9966960" y="1280160"/>
            <a:ext cx="128016" cy="128016"/>
          </a:xfrm>
          <a:prstGeom prst="ellipse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0332720" y="1280160"/>
            <a:ext cx="128016" cy="128016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0698480" y="1280160"/>
            <a:ext cx="128016" cy="128016"/>
          </a:xfrm>
          <a:prstGeom prst="ellipse">
            <a:avLst/>
          </a:prstGeom>
          <a:solidFill>
            <a:srgbClr val="2A355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9601200" y="1645920"/>
            <a:ext cx="128016" cy="128016"/>
          </a:xfrm>
          <a:prstGeom prst="ellipse">
            <a:avLst/>
          </a:prstGeom>
          <a:solidFill>
            <a:srgbClr val="2A355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9966960" y="1645920"/>
            <a:ext cx="128016" cy="128016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0332720" y="1645920"/>
            <a:ext cx="128016" cy="128016"/>
          </a:xfrm>
          <a:prstGeom prst="ellipse">
            <a:avLst/>
          </a:prstGeom>
          <a:solidFill>
            <a:srgbClr val="4669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10698480" y="1645920"/>
            <a:ext cx="128016" cy="128016"/>
          </a:xfrm>
          <a:prstGeom prst="ellipse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Проект АРШИН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нужен проект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причины, почему ручной сбор больше не работает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26568" y="1737360"/>
            <a:ext cx="3657600" cy="265176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26568" y="1737360"/>
            <a:ext cx="54864" cy="265176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00888" y="2011680"/>
            <a:ext cx="594360" cy="594360"/>
          </a:xfrm>
          <a:prstGeom prst="ellipse">
            <a:avLst/>
          </a:prstGeom>
          <a:solidFill>
            <a:srgbClr val="6B8BFF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60" y="213055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0888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обновляются каждый день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0888" y="33649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ФГИС Аршин публикует сотни новых поверок в сутки. Excel-файл устаревает за неделю.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67048" y="1737360"/>
            <a:ext cx="3657600" cy="265176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4267048" y="1737360"/>
            <a:ext cx="54864" cy="265176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4541368" y="2011680"/>
            <a:ext cx="594360" cy="594360"/>
          </a:xfrm>
          <a:prstGeom prst="ellipse">
            <a:avLst/>
          </a:prstGeom>
          <a:solidFill>
            <a:srgbClr val="E8B56A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240" y="213055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41368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бренда, сотни моделей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41368" y="33649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Baylan, Декаст, Карат, Норма, Тепловодомер и другие. У каждого десятки рег.номеров и тысячи поверителей.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07528" y="1737360"/>
            <a:ext cx="3657600" cy="265176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7"/>
          <p:cNvSpPr/>
          <p:nvPr/>
        </p:nvSpPr>
        <p:spPr>
          <a:xfrm>
            <a:off x="8107528" y="1737360"/>
            <a:ext cx="54864" cy="265176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8"/>
          <p:cNvSpPr/>
          <p:nvPr/>
        </p:nvSpPr>
        <p:spPr>
          <a:xfrm>
            <a:off x="8381848" y="2011680"/>
            <a:ext cx="594360" cy="594360"/>
          </a:xfrm>
          <a:prstGeom prst="ellipse">
            <a:avLst/>
          </a:prstGeom>
          <a:solidFill>
            <a:srgbClr val="5DCF94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720" y="213055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81848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динамика по месяцам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381848" y="33649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решений о продажах важны тренды: кто растёт, кто падает, где и когда.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4937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автоматический пайплайн с данными в PostgreSQL и дашбордом в DataLens.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Контекст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 — ФГИС Аршин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Государственный реестр средств измерений. Два API, из которых берём данные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4864" cy="512064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868680" cy="45720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моделей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/mit — список моделей, /mit/{uuid} — детали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поля забираем: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601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регистрационный номер модели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355848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наименование счётчика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739896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60120" y="36027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602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компании-производителя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123944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960120" y="39867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mit_uuid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986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идентификатор для детального запроса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4507992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960120" y="4370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370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обозначение (из /mit/{uuid})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892040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96012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страна, город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 (из /mit/{uuid})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276088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960120" y="5138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методика поверки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5138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PDF-файл с характеристиками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1280160"/>
            <a:ext cx="5425135" cy="51206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6309360" y="1280160"/>
            <a:ext cx="54864" cy="51206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>
            <a:off x="6537960" y="1463040"/>
            <a:ext cx="868680" cy="45720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6537960" y="1463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43800" y="1508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о поверках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3796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/vri — список поверок, /vri/{id} — детали одной поверки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поля забираем: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29400" y="2971800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812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mit_number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какой модели относится поверка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29400" y="3355848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681228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verification_date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поверки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29400" y="3739896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6812280" y="3602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org_title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0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проводил поверку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629400" y="4123944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/>
          <p:nvPr/>
        </p:nvSpPr>
        <p:spPr>
          <a:xfrm>
            <a:off x="6812280" y="3986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mi_modification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86800" y="3986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модификация (диаметр счётчика)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29400" y="4507992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681228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vri_id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0" y="4370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для запроса типа /vri/{id}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629400" y="4892040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681228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vriType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8680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'1' = первичная, '2' = периодическая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629400" y="5276088"/>
            <a:ext cx="91440" cy="9144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6812280" y="5138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поверок за период (метаданные)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пайплайна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скрипта. Каждый читает результат предыдущего и пишет в свою таблицу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08864" y="1188720"/>
            <a:ext cx="2697480" cy="42062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08864" y="1188720"/>
            <a:ext cx="54864" cy="4206240"/>
          </a:xfrm>
          <a:prstGeom prst="rect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37464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9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7464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брендов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7464" y="2240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7464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dimbrand.py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7464" y="278892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37464" y="2852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7464" y="3081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 заданный список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брендов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7464" y="388620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37464" y="39502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(в таблицу)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7464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9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dim_brands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7464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строки: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бренд, страна, город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3210916" y="3200400"/>
            <a:ext cx="118872" cy="182880"/>
          </a:xfrm>
          <a:prstGeom prst="rtTriangle">
            <a:avLst/>
          </a:prstGeom>
          <a:solidFill>
            <a:srgbClr val="1F274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334360" y="1188720"/>
            <a:ext cx="2697480" cy="42062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3334360" y="1188720"/>
            <a:ext cx="54864" cy="4206240"/>
          </a:xfrm>
          <a:prstGeom prst="rect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3562960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29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Производители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562960" y="2240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2960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Обновлпервич.py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2960" y="278892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562960" y="2852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2960" y="3081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бренды из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dim_brands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2960" y="388620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3562960" y="39502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(в таблицу)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2960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manufacturers_verifiers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2960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рег.номер + производитель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год, доля первичных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6036412" y="3200400"/>
            <a:ext cx="118872" cy="182880"/>
          </a:xfrm>
          <a:prstGeom prst="rtTriangle">
            <a:avLst/>
          </a:prstGeom>
          <a:solidFill>
            <a:srgbClr val="1F274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6159856" y="1188720"/>
            <a:ext cx="2697480" cy="42062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6159856" y="1188720"/>
            <a:ext cx="54864" cy="420624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6388456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88456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388456" y="2240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88456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енрич.py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88456" y="278892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6388456" y="2852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88456" y="3081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рег.номера из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manufacturers_verifiers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88456" y="388620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6388456" y="39502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(в таблицу)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88456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dim_reference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88456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диаметры, категория,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умный/мокроходный/…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rot="5400000">
            <a:off x="8861908" y="3200400"/>
            <a:ext cx="118872" cy="182880"/>
          </a:xfrm>
          <a:prstGeom prst="rtTriangle">
            <a:avLst/>
          </a:prstGeom>
          <a:solidFill>
            <a:srgbClr val="1F274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Shape 48"/>
          <p:cNvSpPr/>
          <p:nvPr/>
        </p:nvSpPr>
        <p:spPr>
          <a:xfrm>
            <a:off x="8985352" y="1188720"/>
            <a:ext cx="2697480" cy="42062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1" name="Shape 49"/>
          <p:cNvSpPr/>
          <p:nvPr/>
        </p:nvSpPr>
        <p:spPr>
          <a:xfrm>
            <a:off x="8985352" y="1188720"/>
            <a:ext cx="54864" cy="42062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9213952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213952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Объёмы по месяцам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9213952" y="2240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213952" y="2441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вольюмс.py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213952" y="278892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9213952" y="2852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213952" y="3081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пары рег.номер+производитель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предыдущих шагов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213952" y="3886200"/>
            <a:ext cx="22402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58"/>
          <p:cNvSpPr/>
          <p:nvPr/>
        </p:nvSpPr>
        <p:spPr>
          <a:xfrm>
            <a:off x="9213952" y="39502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(в таблицу)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213952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production_volumes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213952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поверок по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(год, месяц, категория)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5623560"/>
            <a:ext cx="11277295" cy="777240"/>
          </a:xfrm>
          <a:prstGeom prst="rect">
            <a:avLst/>
          </a:prstGeom>
          <a:solidFill>
            <a:srgbClr val="141A2E"/>
          </a:solidFill>
          <a:ln w="9525">
            <a:solidFill>
              <a:srgbClr val="4CC4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Shape 62"/>
          <p:cNvSpPr/>
          <p:nvPr/>
        </p:nvSpPr>
        <p:spPr>
          <a:xfrm>
            <a:off x="457200" y="5623560"/>
            <a:ext cx="54864" cy="777240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658368" y="5687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Оркестратор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8368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запук.py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2743200" y="574243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4 скрипта по очереди. Шаг 1 и 3 — по каждому году из YEARS. Любой шаг можно пропустить флагом RUN_*.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0. Справочник брендов  →  dim_brands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dimbrand.py. Откуда 23 бренда и как достаём страну/город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394960" cy="52120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4864" cy="521208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Вход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список 23 брендов в коде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составлен вручную — это бренды, за которыми мы следим. По каждому заданы: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274320" cy="27432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бренд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182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внутреннее название («Декаст»)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274320" cy="27432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поиск_mit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776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подстрока для поиска в API MIT («Декаст»)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274320" cy="27432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858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ключевые_слова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370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написания («Декаст, ДЕКАСТ»)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из списка: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5120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Baylan · Valtec · Аква-С · Арзамас · Байкал · Бетар · Вавиот · Водомер · Геррида · Декаст · ИТЭЛМА · Карат · Метер · Норма · Санекст · Спецтехприбор · Тепловодомер · Тепловодохран · Ценнер · Эквател · Экомера · Эконом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5699455" cy="52120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6035040" y="1234440"/>
            <a:ext cx="54864" cy="521208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26364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делает скрипт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бренду ищет страну и город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9632" y="2331720"/>
            <a:ext cx="310896" cy="310896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199632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/mit?search=*Декаст*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все модели бренда в реестре MIT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2971800"/>
            <a:ext cx="310896" cy="310896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199632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/mit/{mit_uuid}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первому рег.номеру запрашивает detail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99632" y="3611880"/>
            <a:ext cx="310896" cy="310896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6199632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29400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Извлекает страну и город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поля address в detail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4251960"/>
            <a:ext cx="310896" cy="310896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199632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2940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Если у первого нет — пробует следующий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40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попыток подряд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4937760"/>
            <a:ext cx="530352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6263640" y="5029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 таблице dim_brands: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5303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бренд · поиск_mit · ключевые_слова · страна · город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63640" y="5669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«Декаст» → Россия, Москва. «Baylan» → Турция, Измир.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1. Производители  —  откуда берутся рег.номера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Обновлпервич.py. Часть 1 из 2: как находим все модели бренда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394960" cy="52120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4864" cy="521208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в API MIT по каждому бренду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/mit?search=*Декаст*&amp;rows=100&amp;start=0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постранично (по 100 за запрос) пока не кончатся.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найденной модели получаем: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099816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рег.номер модели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648456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96012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наименование — например «Счётчик воды СВК-15»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197096"/>
            <a:ext cx="91440" cy="91440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96012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manufacturers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компания-производитель — например «ЗАО Декаст, Москва»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8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не умеет фильтровать — возвращает ВСЁ с этой подстрокой, включая мусор.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дальше — наша фильтрация.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5699455" cy="52120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54864" cy="521208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Фильтруем в 3 шага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всё, что нашлось по подстроке — нужный бренд и тип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286000"/>
            <a:ext cx="365760" cy="365760"/>
          </a:xfrm>
          <a:prstGeom prst="ellipse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172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 ключевым словам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26243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из dim_brands.ключевые_слова: например «Декаст, ДЕКАСТ». Подстрока должна встретиться в поле manufacturers.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566160"/>
            <a:ext cx="365760" cy="365760"/>
          </a:xfrm>
          <a:prstGeom prst="ellipse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172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для особых случаев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39044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«Тепловодохран» отсекаем всё, где встречается «Тепловодомер» (похожие названия). Аналогично для «Водомер».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4846320"/>
            <a:ext cx="365760" cy="365760"/>
          </a:xfrm>
          <a:prstGeom prst="ellipse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61722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is_water_meter(title)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51846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только то, в названии чего есть «счётчик» или «теплосчётчик». Отсекаем газ и электричество.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1а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1. Производители  —  умная выборка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из 2: как из тысяч поверок по рег.номеру определяем, кто производитель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7295" cy="11887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одному рег.номеру — до 500 000 поверок за год. У одних поверителей они первичные (vriType=1), у других периодические (vriType=2). Проверить каждую вручную — нереально.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864" y="2606040"/>
            <a:ext cx="2697480" cy="33832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08864" y="2606040"/>
            <a:ext cx="54864" cy="338328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700888" y="2798064"/>
            <a:ext cx="347472" cy="347472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00888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8944" y="2807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Узнаём общее число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7464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/vri?mit_number=...&amp;year=2025&amp;rows=1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получаем 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7464" y="5029200"/>
            <a:ext cx="224028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37464" y="5029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152 000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4360" y="2606040"/>
            <a:ext cx="2697480" cy="33832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334360" y="2606040"/>
            <a:ext cx="54864" cy="338328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526384" y="2798064"/>
            <a:ext cx="347472" cy="347472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526384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74440" y="2807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6 точек в списке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2960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Равномерно: от старта (0) до конца (99 000 — лимит API). На каждой точке — 15 поверок.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2960" y="5029200"/>
            <a:ext cx="224028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3562960" y="5029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× 15 = 90 записей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59856" y="2606040"/>
            <a:ext cx="2697480" cy="33832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6159856" y="2606040"/>
            <a:ext cx="54864" cy="338328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6351880" y="2798064"/>
            <a:ext cx="347472" cy="347472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35188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99936" y="2807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— ping детали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88456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/vri/{vri_id}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получаем vriType: '1' или '2'. Учитываем org_title.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88456" y="5029200"/>
            <a:ext cx="224028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6388456" y="5029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HTTP-запросов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85352" y="2606040"/>
            <a:ext cx="2697480" cy="33832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8985352" y="2606040"/>
            <a:ext cx="54864" cy="338328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>
            <a:off x="9177376" y="2798064"/>
            <a:ext cx="347472" cy="347472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9177376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25432" y="2807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долю первичных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213952" y="34747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org_title: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doля = первичных / (первичных + периодических) × 100%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13952" y="5029200"/>
            <a:ext cx="2240280" cy="77724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213952" y="5029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Если ≥70% — производитель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solidFill>
            <a:srgbClr val="141A2E"/>
          </a:solidFill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В таблицу manufacturers_verifiers: reg_number · verifier · year · primary_count · periodic_count · share_pct · is_producer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1б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Характеристики моделей  →  dim_reference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енрич.py. Для каждого производителя собираем что за модель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7295" cy="10972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09728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Вход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пары (рег.номер + производитель) из manufacturers_verifiers — по каждой собираем характеристики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5148" y="2468880"/>
            <a:ext cx="3611880" cy="38404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95148" y="2468880"/>
            <a:ext cx="54864" cy="3840480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23748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Обозначение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3748" y="3154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3748" y="33558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/mit/{mit_uuid}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3748" y="38862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detail берём обозначение — например «СВК-15, СВК-20, СВК-40»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3748" y="5349240"/>
            <a:ext cx="31546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23748" y="5440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в dim_reference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3748" y="5669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89908" y="2468880"/>
            <a:ext cx="3611880" cy="38404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289908" y="2468880"/>
            <a:ext cx="54864" cy="384048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518508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Диаметры модели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18508" y="3154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18508" y="33558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источника по приоритету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18508" y="38862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счётчика в мм: 15, 20, 25, 40 и т.д. Откуда берём — на следующем слайде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18508" y="5349240"/>
            <a:ext cx="31546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518508" y="5440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в dim_reference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18508" y="5669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модификация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84668" y="2468880"/>
            <a:ext cx="3611880" cy="38404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8084668" y="2468880"/>
            <a:ext cx="54864" cy="384048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8313268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13268" y="3154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13268" y="33558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 диаметру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13268" y="38862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15–20 → бытовой, DN 25–40 → домовой, DN 50+ → промышленный. Теплосчётчик — отдельно.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13268" y="5349240"/>
            <a:ext cx="31546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8313268" y="5440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в dim_reference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13268" y="5669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категория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2а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Откуда берём диаметры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источника по приоритету — пробуем по очереди, пока не получится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1277295" cy="14630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4864" cy="14630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методики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Точно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1508760"/>
            <a:ext cx="0" cy="109728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114800" y="1435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645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Скачиваем PDF по ссылке из /mit/{uuid}, парсим текст регуляркой на «DN 15», «Ду 20» и т.п.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1508760"/>
            <a:ext cx="0" cy="109728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503920" y="1435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надёжный источник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53512"/>
            <a:ext cx="11277295" cy="14630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57200" y="2953512"/>
            <a:ext cx="54864" cy="1463040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457200" cy="457200"/>
          </a:xfrm>
          <a:prstGeom prst="ellipse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486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Модификации из VRI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Точно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3136392"/>
            <a:ext cx="0" cy="109728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114800" y="3063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32735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/vri?mit_number=... — из реальных поверок берём поле mi_modification («СТВ-15», «СВК-25 Ду32»)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3136392"/>
            <a:ext cx="0" cy="109728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850392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32735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PDF не нашли или PDF недоступен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81144"/>
            <a:ext cx="11277295" cy="14630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57200" y="4581144"/>
            <a:ext cx="54864" cy="1463040"/>
          </a:xfrm>
          <a:prstGeom prst="rect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4864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47183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исправление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88720" y="5102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Заполняется вручную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31920" y="4764024"/>
            <a:ext cx="0" cy="109728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114800" y="46908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490118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помечается как «нужна проверка», колонка ручное_исправление — заполняется человеком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21040" y="4764024"/>
            <a:ext cx="0" cy="109728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8503920" y="4690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9011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PDF и VRI не сработали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080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Найденные диаметры сохраняются в dim_reference.модификация. Каждый диаметр попадает в свою категорию — по этому правилу у одной модели может быть несколько строк (бытовые + домовые).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2б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Как диаметр превращается в категорию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набора диаметров — в одну или несколько строк таблицы dim_reference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7295" cy="160020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60020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отнесения диаметра к категории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2560320" cy="365760"/>
          </a:xfrm>
          <a:prstGeom prst="rect">
            <a:avLst/>
          </a:prstGeom>
          <a:solidFill>
            <a:srgbClr val="5DCF94">
              <a:alpha val="3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858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 15, 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Счетчики воды бытовые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2560320" cy="365760"/>
          </a:xfrm>
          <a:prstGeom prst="rect">
            <a:avLst/>
          </a:prstGeom>
          <a:solidFill>
            <a:srgbClr val="4CC4E0">
              <a:alpha val="3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 25, 32,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154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Счетчики воды домовые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194560"/>
            <a:ext cx="2560320" cy="365760"/>
          </a:xfrm>
          <a:prstGeom prst="rect">
            <a:avLst/>
          </a:prstGeom>
          <a:solidFill>
            <a:srgbClr val="B794F6">
              <a:alpha val="3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858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9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 50, 65, 80, 100, 150, 200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Счетчики воды промышленные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194560"/>
            <a:ext cx="2560320" cy="365760"/>
          </a:xfrm>
          <a:prstGeom prst="rect">
            <a:avLst/>
          </a:prstGeom>
          <a:solidFill>
            <a:srgbClr val="E8B56A">
              <a:alpha val="3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(по типу модели)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154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Теплосчётчики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11277295" cy="342900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54864" cy="342900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8580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Пример. Модель с диаметрами [15, 20, 25, 32, 40]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456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group_by_category() группирует диаметры по категории. В таблицу попадёт ДВЕ строки: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023360"/>
            <a:ext cx="10820095" cy="777240"/>
          </a:xfrm>
          <a:prstGeom prst="rect">
            <a:avLst/>
          </a:prstGeom>
          <a:solidFill>
            <a:srgbClr val="141A2E"/>
          </a:solidFill>
          <a:ln w="9525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Строка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4023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модификация =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4023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15, 20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4023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категория =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023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C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Счетчики воды бытовые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983480"/>
            <a:ext cx="10820095" cy="777240"/>
          </a:xfrm>
          <a:prstGeom prst="rect">
            <a:avLst/>
          </a:prstGeom>
          <a:solidFill>
            <a:srgbClr val="141A2E"/>
          </a:solidFill>
          <a:ln w="9525">
            <a:solidFill>
              <a:srgbClr val="4CC4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868680" y="49834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Строка 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48840" y="4983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модификация =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4983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25, 32, 40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4983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категория =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4983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Счетчики воды домовые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2в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3. Объёмы по месяцам  →  production_volumes_exact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volumes_exact.py. Основной способ: 12 помесячных запросов с полной пагинацией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7295" cy="128016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28016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Вход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пары (рег.номер + организация-производитель) из manufacturers_verifiers за нужный год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паре делаем 12 запросов — по одному на каждый месяц. API возвращает точное число поверок этого производителя за этот месяц.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77295" cy="137160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4864" cy="137160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запроса за январь 2025 для рег.номера 12345 и производителя «ЗАО Декаст»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/vri?mit_number=12345&amp;year=2025&amp;org_title=ЗАО Декаст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&amp;verification_date_start=2025-01-01&amp;verification_date_end=2025-01-31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 ответе: count = точное число поверок + первые 100 записей с диаметрами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9466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19466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Янв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9466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762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201762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Фев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762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4058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284058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4058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6354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66354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Апр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6354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8650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48650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650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946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30946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Июн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946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3242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613242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Июл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3242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1180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5538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695538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Авг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5538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77834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777834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Сен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834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0130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860130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Окт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0130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42426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942426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Ноя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42426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247224" y="4434840"/>
            <a:ext cx="749808" cy="7772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/>
          <p:nvPr/>
        </p:nvSpPr>
        <p:spPr>
          <a:xfrm>
            <a:off x="10247224" y="4480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Дек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247224" y="475488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5349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за год: 11 470 поверок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В production_volumes_exact: рег_номер · организация_поверитель · год · месяц · категория · количество · точность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3а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3. Как делим месяц на категории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модель выпускается в разных диаметрах (и бытовые, и домовые)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7295" cy="109728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09728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«Декаст СТВ» — DN15, DN20, DN25, DN40. За январь 5000 поверок — сколько бытовых, сколько домовых?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864" y="2468880"/>
            <a:ext cx="2697480" cy="35204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08864" y="2468880"/>
            <a:ext cx="54864" cy="35204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91744" y="2651760"/>
            <a:ext cx="365760" cy="36576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91744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8944" y="2670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вернул count и items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7464" y="333756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январский запрос пришло: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5000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= первые 100 записей (страница 0). У каждой есть mi_modification.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7464" y="5166360"/>
            <a:ext cx="22402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37464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 / 100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4360" y="2468880"/>
            <a:ext cx="2697480" cy="35204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334360" y="2468880"/>
            <a:ext cx="54864" cy="35204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517240" y="2651760"/>
            <a:ext cx="365760" cy="36576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5172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74440" y="2670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 все страницы месяца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2960" y="333756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со start=100, 200, 300, ... 4900.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50 страниц = 5000 записей. Реально все поверки месяца, не выборка.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2960" y="5166360"/>
            <a:ext cx="22402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356296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страниц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59856" y="2468880"/>
            <a:ext cx="2697480" cy="35204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6159856" y="2468880"/>
            <a:ext cx="54864" cy="35204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6342736" y="2651760"/>
            <a:ext cx="365760" cy="36576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34273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99936" y="2670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Классифицируем каждую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8456" y="333756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из 5000 берём mi_modification, выдёргиваем диаметр, относим к категории.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бытовых 3100, домовых 1900.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88456" y="5166360"/>
            <a:ext cx="22402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6388456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 проверок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985352" y="2468880"/>
            <a:ext cx="2697480" cy="35204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8985352" y="2468880"/>
            <a:ext cx="54864" cy="35204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>
            <a:off x="9168232" y="2651760"/>
            <a:ext cx="365760" cy="36576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9168232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25432" y="26700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подсчёт по категориям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13952" y="333756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sample_size = month_count → пишем числа как есть, без пропорций.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Бытовые: 3100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Домовые: 1900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точно равна count.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13952" y="5166360"/>
            <a:ext cx="22402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213952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3100 + 1900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solidFill>
            <a:srgbClr val="141A2E"/>
          </a:solidFill>
          <a:ln w="6350">
            <a:solidFill>
              <a:srgbClr val="4CC4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пагинация оборвалась (HTTP 500 или лимит API) — остаток распределяется по уже посчитанным долям. Сумма всегда сходится с count.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3б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3. А если случай нестандартный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 всех моделей есть несколько категорий — в этих ветках деление не нужно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7295" cy="10058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Логика решения — в функции classify_item()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тем как читать поверки по одной, проверяем три условия. В двух из них читать не нужно — сразу кладём всё в нужную категорию.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5148" y="2377440"/>
            <a:ext cx="3611880" cy="39319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95148" y="2377440"/>
            <a:ext cx="54864" cy="393192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69468" y="25786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46708" y="25786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46708" y="2788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теплосчётчик = True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3748" y="3383280"/>
            <a:ext cx="31546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23748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Теплосчётчик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3748" y="3886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одна: «Теплосчетчики». Неважно какой диаметр у конкретной поверки — она всё равно теплосчётчик.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3748" y="5166360"/>
            <a:ext cx="31546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E8B5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23748" y="5166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count за месяц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B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«Теплосчетчики»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3748" y="5870448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Определяется на этапе 2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 слову в наименовании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(функция is_heat_meter)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89908" y="2377440"/>
            <a:ext cx="3611880" cy="39319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289908" y="2377440"/>
            <a:ext cx="54864" cy="3931920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564228" y="25786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341468" y="25786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1468" y="2788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single_category =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has_diameters = True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18508" y="3383280"/>
            <a:ext cx="31546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518508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категория у модели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18508" y="3886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модели в dim_reference только одна строка — все диаметры в одной категории (например, все DN15-DN20 → бытовые). Делить нечего.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18508" y="5166360"/>
            <a:ext cx="31546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4CC4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518508" y="5166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count за месяц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эта единственная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18508" y="5870448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Например модель есть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только в DN15 и DN20 —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всё бытовое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84668" y="2377440"/>
            <a:ext cx="3611880" cy="39319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8084668" y="2377440"/>
            <a:ext cx="54864" cy="3931920"/>
          </a:xfrm>
          <a:prstGeom prst="rect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8358988" y="25786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9136228" y="25786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36228" y="2788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has_diameters =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или не распарсилось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13268" y="3383280"/>
            <a:ext cx="3154680" cy="0"/>
          </a:xfrm>
          <a:prstGeom prst="line">
            <a:avLst/>
          </a:prstGeom>
          <a:noFill/>
          <a:ln w="6350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313268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Диаметров нет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13268" y="3886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dim_reference.модификация пусто (ни PDF, ни VRI, ни название не дали результата — модель помечена как «нужна ручная проверка») — либо у конкретной поверки пустое mi_modification.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13268" y="5166360"/>
            <a:ext cx="3154680" cy="640080"/>
          </a:xfrm>
          <a:prstGeom prst="rect">
            <a:avLst/>
          </a:prstGeom>
          <a:solidFill>
            <a:srgbClr val="141A2E"/>
          </a:solidFill>
          <a:ln w="6350">
            <a:solidFill>
              <a:srgbClr val="E078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8313268" y="5166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идут 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категорию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определено»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13268" y="5870448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Потом разбираются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вручную через колонку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ручное_исправление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из слайда 12 (читаем выборку и делим пропорционально) — это только когда ни одно из этих трёх условий не сработало.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3в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3. Что если месяц не ответил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вернул HTTP 500 на март, июль и ноябрь — код сам восстанавливает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46441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46441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Янв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441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165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24165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Фев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165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8892" y="1188720"/>
            <a:ext cx="713232" cy="548640"/>
          </a:xfrm>
          <a:prstGeom prst="rect">
            <a:avLst/>
          </a:prstGeom>
          <a:solidFill>
            <a:srgbClr val="141A2E"/>
          </a:solidFill>
          <a:ln w="12700">
            <a:solidFill>
              <a:srgbClr val="E078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01889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889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613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79613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Апр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613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337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57337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337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5061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35061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Июн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5061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7852" y="1188720"/>
            <a:ext cx="713232" cy="548640"/>
          </a:xfrm>
          <a:prstGeom prst="rect">
            <a:avLst/>
          </a:prstGeom>
          <a:solidFill>
            <a:srgbClr val="141A2E"/>
          </a:solidFill>
          <a:ln w="12700">
            <a:solidFill>
              <a:srgbClr val="E078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12785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Июл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785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509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90509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509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233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768233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Сен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233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957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845957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Окт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5957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6812" y="1188720"/>
            <a:ext cx="713232" cy="548640"/>
          </a:xfrm>
          <a:prstGeom prst="rect">
            <a:avLst/>
          </a:prstGeom>
          <a:solidFill>
            <a:srgbClr val="141A2E"/>
          </a:solidFill>
          <a:ln w="12700">
            <a:solidFill>
              <a:srgbClr val="E078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923681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Ноя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3681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014052" y="1188720"/>
            <a:ext cx="713232" cy="548640"/>
          </a:xfrm>
          <a:prstGeom prst="rect">
            <a:avLst/>
          </a:prstGeom>
          <a:solidFill>
            <a:srgbClr val="1A2241"/>
          </a:solidFill>
          <a:ln w="12700">
            <a:solidFill>
              <a:srgbClr val="5DCF9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10014052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Дек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14052" y="1435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1783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успешных = 8 450.   Март, июль, ноябрь — реестр вернул HTTP 500.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2103120"/>
            <a:ext cx="4709160" cy="43891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6" name="Shape 44"/>
          <p:cNvSpPr/>
          <p:nvPr/>
        </p:nvSpPr>
        <p:spPr>
          <a:xfrm>
            <a:off x="457200" y="2103120"/>
            <a:ext cx="54864" cy="4389120"/>
          </a:xfrm>
          <a:prstGeom prst="rect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685800" y="2212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9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такое страховочная выборка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Параллельный срез данных за весь год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5800" y="28529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время прогона вольюмс.py собирает дополнительный запрос — без фильтра по месяцу. Это «слепок» года по каждому производителю.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5800" y="37490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Структура: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" y="3977640"/>
            <a:ext cx="4297680" cy="960120"/>
          </a:xfrm>
          <a:prstGeom prst="rect">
            <a:avLst/>
          </a:prstGeom>
          <a:solidFill>
            <a:srgbClr val="141A2E"/>
          </a:solidFill>
          <a:ln w="6350">
            <a:solidFill>
              <a:srgbClr val="B794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77724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sample_by_month_cat_org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{ месяц: { категория: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{ поверитель: кол-во } } }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5800" y="50292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79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упавшего месяца берём оттуда число по нужному поверителю — и получаем долю.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349240" y="2103120"/>
            <a:ext cx="6385255" cy="128016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5" name="Shape 53"/>
          <p:cNvSpPr/>
          <p:nvPr/>
        </p:nvSpPr>
        <p:spPr>
          <a:xfrm>
            <a:off x="5349240" y="2103120"/>
            <a:ext cx="54864" cy="128016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Shape 54"/>
          <p:cNvSpPr/>
          <p:nvPr/>
        </p:nvSpPr>
        <p:spPr>
          <a:xfrm>
            <a:off x="5477256" y="2139696"/>
            <a:ext cx="384048" cy="384048"/>
          </a:xfrm>
          <a:prstGeom prst="ellipse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5477256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035040" y="2212848"/>
            <a:ext cx="5470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Узнаём годовой итог — один запрос без фильтра по месяцу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035040" y="2542032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/vri?mit_number=...&amp;year=2025&amp;org_title=ЗАО Декаст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035040" y="2816352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count = 12 000  (всего поверок этого производителя за год)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035040" y="3090672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запрос работает — он без проблемного параметра verification_date_start/end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9240" y="3456432"/>
            <a:ext cx="6385255" cy="10058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3" name="Shape 61"/>
          <p:cNvSpPr/>
          <p:nvPr/>
        </p:nvSpPr>
        <p:spPr>
          <a:xfrm>
            <a:off x="5349240" y="3456432"/>
            <a:ext cx="54864" cy="1005840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Shape 62"/>
          <p:cNvSpPr/>
          <p:nvPr/>
        </p:nvSpPr>
        <p:spPr>
          <a:xfrm>
            <a:off x="5477256" y="3465576"/>
            <a:ext cx="384048" cy="384048"/>
          </a:xfrm>
          <a:prstGeom prst="ellipse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5477256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035040" y="3547872"/>
            <a:ext cx="5470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Считаем, сколько уже точно собрано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035040" y="3858768"/>
            <a:ext cx="5470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по 9 успешным месяцам = 8 450.  Остаток:  12 000 − 8 450 = 3 550.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035040" y="4133088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остаток 3 550 — именно столько приходится на март + июль + ноябрь вместе.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349240" y="4544568"/>
            <a:ext cx="6385255" cy="196596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0" name="Shape 68"/>
          <p:cNvSpPr/>
          <p:nvPr/>
        </p:nvSpPr>
        <p:spPr>
          <a:xfrm>
            <a:off x="5349240" y="4544568"/>
            <a:ext cx="54864" cy="196596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1" name="Shape 69"/>
          <p:cNvSpPr/>
          <p:nvPr/>
        </p:nvSpPr>
        <p:spPr>
          <a:xfrm>
            <a:off x="5477256" y="4562856"/>
            <a:ext cx="384048" cy="384048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2" name="Text 70"/>
          <p:cNvSpPr/>
          <p:nvPr/>
        </p:nvSpPr>
        <p:spPr>
          <a:xfrm>
            <a:off x="5477256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35040" y="4617720"/>
            <a:ext cx="5470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остаток по долям из страховочной выборки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035040" y="4937760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страховочной выборке у этого поверителя за март = 40, июль = 30, ноябрь = 48  (всего 118)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035040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995160" y="5285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118 = 34 %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18972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9464040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3 550 × 0.34 ≈ 1 200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035040" y="5577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99516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118 = 25 %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18972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464040" y="5577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3 550 × 0.25 ≈ 900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035040" y="5870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995160" y="5870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/ 118 = 41 %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9189720" y="5870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464040" y="5870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3 550 × 0.41 ≈ 1 450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57200" y="6583680"/>
            <a:ext cx="11277295" cy="237744"/>
          </a:xfrm>
          <a:prstGeom prst="rect">
            <a:avLst/>
          </a:prstGeom>
          <a:solidFill>
            <a:srgbClr val="141A2E"/>
          </a:solidFill>
          <a:ln w="6350">
            <a:solidFill>
              <a:srgbClr val="4CC4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8" name="Text 86"/>
          <p:cNvSpPr/>
          <p:nvPr/>
        </p:nvSpPr>
        <p:spPr>
          <a:xfrm>
            <a:off x="457200" y="658368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Проверка:  1 200 + 900 + 1 450 = 3 550  ✓   и  8 450 + 3 550 = 12 000  ✓   Ни одна поверка не потеряна.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3г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какими проблемами сталкивались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пришлось решать по ходу разработки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77840" cy="1536192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" cy="1536192"/>
          </a:xfrm>
          <a:prstGeom prst="rect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078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падал на помесячных запросах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87452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verification_date_start/end иногда возвращал HTTP 500. Решение — двухуровневая схема: 12 помесячных запросов + страховочная выборка за год на случай сбоя.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188720"/>
            <a:ext cx="5577840" cy="1536192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54864" cy="1536192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345936" y="1371600"/>
            <a:ext cx="457200" cy="457200"/>
          </a:xfrm>
          <a:prstGeom prst="ellipse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3459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31736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API — не больше 100 000 записей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187452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start не может превышать 99 999. Для крупных производителей с 500 000+ поверок в год нельзя пройти всё подряд — сделали умную выборку 6×15 = 90 пингов на рег.номер.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5577840" cy="1536192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54864" cy="1536192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прямого признака «производитель»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352044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реестре нет поля «эта организация — производитель». Определили через поведение: у производителя доля первичных поверок (vriType='1') высокая. Порог 70% выставили эмпирически.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2834640"/>
            <a:ext cx="5577840" cy="1536192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6163056" y="2834640"/>
            <a:ext cx="54864" cy="1536192"/>
          </a:xfrm>
          <a:prstGeom prst="rect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6345936" y="3017520"/>
            <a:ext cx="457200" cy="457200"/>
          </a:xfrm>
          <a:prstGeom prst="ellipse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34593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31736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одной модели — несколько диаметров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37376" y="352044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«Декаст СТВ» в одном рег.номере выпускается в DN15, DN20, DN25, DN40. В dim_reference делаем несколько строк на один рег.номер — по одной на категорию. В объёмах месяц тоже делим по категориям.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480560"/>
            <a:ext cx="11283696" cy="1536192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54864" cy="1536192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25880" y="4663440"/>
            <a:ext cx="10277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Похожие названия брендов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" y="5166360"/>
            <a:ext cx="108264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«Тепловодомер» и «Тепловодохран» — разные производители, но MIT-поиск цепляет оба. Добавили фильтры-исключения: для «Тепловодохран» отсекаем всё, где встречается «Тепловодомер», и наоборот.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Проблемы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настройки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скрипт запук.py управляет всем пайплайном. Параметры меняются в файле.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26568" y="1188720"/>
            <a:ext cx="2697480" cy="25603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26568" y="1188720"/>
            <a:ext cx="54864" cy="2560320"/>
          </a:xfrm>
          <a:prstGeom prst="rect">
            <a:avLst/>
          </a:prstGeom>
          <a:solidFill>
            <a:srgbClr val="4CC4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55168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168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[2023, 2024, 2025]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5168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какие годы собирать данные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168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передаётся в шаг 1 и шаг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06928" y="1188720"/>
            <a:ext cx="2697480" cy="25603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306928" y="1188720"/>
            <a:ext cx="54864" cy="256032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535528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SAMPLE_POSITIONS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5528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35528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точек выборки по списку поверок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35528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7288" y="1188720"/>
            <a:ext cx="2697480" cy="25603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187288" y="1188720"/>
            <a:ext cx="54864" cy="2560320"/>
          </a:xfrm>
          <a:prstGeom prst="rect">
            <a:avLst/>
          </a:prstGeom>
          <a:solidFill>
            <a:srgbClr val="E8B5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415888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PINGS_TOTAL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15888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15888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поверок пингуем по каждой модели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5888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67648" y="1188720"/>
            <a:ext cx="2697480" cy="256032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9067648" y="1188720"/>
            <a:ext cx="54864" cy="256032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9296248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96248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296248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доли первичных, % — для признака «производитель»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96248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11277295" cy="2468880"/>
          </a:xfrm>
          <a:prstGeom prst="rect">
            <a:avLst/>
          </a:prstGeom>
          <a:solidFill>
            <a:srgbClr val="141A2E"/>
          </a:solidFill>
          <a:ln w="9525">
            <a:solidFill>
              <a:srgbClr val="B794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54864" cy="2468880"/>
          </a:xfrm>
          <a:prstGeom prst="rect">
            <a:avLst/>
          </a:prstGeom>
          <a:solidFill>
            <a:srgbClr val="B794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68580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RUN_* — что запускать в этом прогоне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запустить, False — пропустить. Позволяет делать ежемесячный догон только шага 3 или полный перезапуск.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6608" y="5074920"/>
            <a:ext cx="2606040" cy="914400"/>
          </a:xfrm>
          <a:prstGeom prst="rect">
            <a:avLst/>
          </a:prstGeom>
          <a:solidFill>
            <a:srgbClr val="1A2241"/>
          </a:solidFill>
          <a:ln w="6350">
            <a:solidFill>
              <a:srgbClr val="2A355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746608" y="5120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RUN_DIMBRAND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6608" y="5532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 — справочник брендов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44088" y="5074920"/>
            <a:ext cx="2606040" cy="914400"/>
          </a:xfrm>
          <a:prstGeom prst="rect">
            <a:avLst/>
          </a:prstGeom>
          <a:solidFill>
            <a:srgbClr val="1A2241"/>
          </a:solidFill>
          <a:ln w="6350">
            <a:solidFill>
              <a:srgbClr val="2A355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3444088" y="5120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RUN_PERVICH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44088" y="5532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— производители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41568" y="5074920"/>
            <a:ext cx="2606040" cy="914400"/>
          </a:xfrm>
          <a:prstGeom prst="rect">
            <a:avLst/>
          </a:prstGeom>
          <a:solidFill>
            <a:srgbClr val="1A2241"/>
          </a:solidFill>
          <a:ln w="6350">
            <a:solidFill>
              <a:srgbClr val="2A355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6141568" y="5120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RUN_ENRICH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41568" y="5532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— характеристики моделей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839048" y="5074920"/>
            <a:ext cx="2606040" cy="914400"/>
          </a:xfrm>
          <a:prstGeom prst="rect">
            <a:avLst/>
          </a:prstGeom>
          <a:solidFill>
            <a:srgbClr val="1A2241"/>
          </a:solidFill>
          <a:ln w="6350">
            <a:solidFill>
              <a:srgbClr val="2A355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8839048" y="5120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4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RUN_VOLUMES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39048" y="5532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— объёмы по месяцам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61081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C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 достаточно прогонять только RUN_VOLUMES за текущий год. Раз в полгода — полный пайплайн.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Запуск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hema_db_hq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34" y="137160"/>
            <a:ext cx="1170402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hema_pipeline_hq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0" y="137160"/>
            <a:ext cx="1170402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" cy="50292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21792" y="21945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в DataLens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из production_volumes + dim_reference + dim_brands собираются в визуализации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АРШИН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530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11277295" cy="0"/>
          </a:xfrm>
          <a:prstGeom prst="line">
            <a:avLst/>
          </a:prstGeom>
          <a:noFill/>
          <a:ln w="9525">
            <a:solidFill>
              <a:srgbClr val="1F274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669280" cy="51206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4864" cy="5120640"/>
          </a:xfrm>
          <a:prstGeom prst="rect">
            <a:avLst/>
          </a:prstGeom>
          <a:solidFill>
            <a:srgbClr val="6B8B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показывает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рынка в одном месте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411480" cy="411480"/>
          </a:xfrm>
          <a:prstGeom prst="ellipse">
            <a:avLst/>
          </a:prstGeom>
          <a:solidFill>
            <a:srgbClr val="6B8BFF">
              <a:alpha val="18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49631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по годам и месяцам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2670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данные из production_volumes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7240" y="3108960"/>
            <a:ext cx="411480" cy="411480"/>
          </a:xfrm>
          <a:prstGeom prst="ellipse">
            <a:avLst/>
          </a:prstGeom>
          <a:solidFill>
            <a:srgbClr val="6B8BFF">
              <a:alpha val="18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18211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производителей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325880" y="3355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агрегация по бренду из dim_brands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77240" y="3794760"/>
            <a:ext cx="411480" cy="411480"/>
          </a:xfrm>
          <a:prstGeom prst="ellipse">
            <a:avLst/>
          </a:prstGeom>
          <a:solidFill>
            <a:srgbClr val="6B8BFF">
              <a:alpha val="18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86791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Доли видов счётчиков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25880" y="4041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 категория из dim_reference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77240" y="4480560"/>
            <a:ext cx="411480" cy="411480"/>
          </a:xfrm>
          <a:prstGeom prst="ellipse">
            <a:avLst/>
          </a:prstGeom>
          <a:solidFill>
            <a:srgbClr val="6B8BFF">
              <a:alpha val="18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5537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4434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счётчики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325880" y="4727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флаг умный из dim_reference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309360" y="1234440"/>
            <a:ext cx="5425135" cy="5120640"/>
          </a:xfrm>
          <a:prstGeom prst="rect">
            <a:avLst/>
          </a:prstGeom>
          <a:solidFill>
            <a:srgbClr val="1A2241"/>
          </a:solidFill>
          <a:ln w="9525">
            <a:solidFill>
              <a:srgbClr val="2A355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26"/>
          <p:cNvSpPr/>
          <p:nvPr/>
        </p:nvSpPr>
        <p:spPr>
          <a:xfrm>
            <a:off x="6309360" y="1234440"/>
            <a:ext cx="54864" cy="5120640"/>
          </a:xfrm>
          <a:prstGeom prst="rect">
            <a:avLst/>
          </a:prstGeom>
          <a:solidFill>
            <a:srgbClr val="5DCF9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7"/>
          <p:cNvSpPr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Открыть дашборд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336127" y="1937657"/>
            <a:ext cx="1371600" cy="1371600"/>
          </a:xfrm>
          <a:prstGeom prst="ellipse">
            <a:avLst/>
          </a:prstGeom>
          <a:solidFill>
            <a:srgbClr val="5DCF94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447" y="2166257"/>
            <a:ext cx="822960" cy="8229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3796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DataLens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653796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для доступа:</a:t>
            </a:r>
            <a:endParaRPr lang="en-US" sz="1100" dirty="0"/>
          </a:p>
        </p:txBody>
      </p:sp>
      <p:sp>
        <p:nvSpPr>
          <p:cNvPr id="39" name="Text 31">
            <a:hlinkClick r:id="rId8"/>
          </p:cNvPr>
          <p:cNvSpPr/>
          <p:nvPr/>
        </p:nvSpPr>
        <p:spPr>
          <a:xfrm>
            <a:off x="653796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5DC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datalens.ru/kshfsx12q6wo4-arshin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53796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Обновляется автоматически после каждого прогона пайплайна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Дашборд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0"/>
          </a:xfrm>
          <a:prstGeom prst="line">
            <a:avLst/>
          </a:prstGeom>
          <a:noFill/>
          <a:ln w="25400">
            <a:solidFill>
              <a:srgbClr val="6B8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49808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01200" y="228600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9966960" y="228600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0332720" y="228600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0698480" y="228600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9601200" y="265176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9966960" y="265176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332720" y="265176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0698480" y="265176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9601200" y="301752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9966960" y="301752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10332720" y="301752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10698480" y="301752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9601200" y="338328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9966960" y="338328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10332720" y="338328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10698480" y="3383280"/>
            <a:ext cx="128016" cy="128016"/>
          </a:xfrm>
          <a:prstGeom prst="ellipse">
            <a:avLst/>
          </a:prstGeom>
          <a:solidFill>
            <a:srgbClr val="6B8B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Проект АРШИН  ·  Аналитика рынка счётчиков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3077</Words>
  <Application>Microsoft Office PowerPoint</Application>
  <PresentationFormat>Широкоэкранный</PresentationFormat>
  <Paragraphs>549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АРШИН. Аналитика рынка счётчиков</dc:title>
  <dc:subject>PptxGenJS Presentation</dc:subject>
  <dc:creator>Проект АРШИН</dc:creator>
  <cp:lastModifiedBy>Office</cp:lastModifiedBy>
  <cp:revision>2</cp:revision>
  <dcterms:created xsi:type="dcterms:W3CDTF">2026-04-25T20:22:14Z</dcterms:created>
  <dcterms:modified xsi:type="dcterms:W3CDTF">2026-04-25T21:24:44Z</dcterms:modified>
</cp:coreProperties>
</file>